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DQN, normalised human score</c:v>
                </c:pt>
              </c:strCache>
            </c:strRef>
          </c:tx>
          <c:spPr>
            <a:solidFill>
              <a:srgbClr val="F77F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2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2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28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282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Breakout</c:v>
                  </c:pt>
                  <c:pt idx="1">
                    <c:v>Pong</c:v>
                  </c:pt>
                  <c:pt idx="2">
                    <c:v>Enduro</c:v>
                  </c:pt>
                  <c:pt idx="3">
                    <c:v>B. Rider</c:v>
                  </c:pt>
                  <c:pt idx="4">
                    <c:v>S. Invaders</c:v>
                  </c:pt>
                  <c:pt idx="5">
                    <c:v>Q*bert</c:v>
                  </c:pt>
                  <c:pt idx="6">
                    <c:v>Seaquest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560</c:v>
                </c:pt>
                <c:pt idx="1">
                  <c:v>232</c:v>
                </c:pt>
                <c:pt idx="2">
                  <c:v>128</c:v>
                </c:pt>
                <c:pt idx="3">
                  <c:v>53</c:v>
                </c:pt>
                <c:pt idx="4">
                  <c:v>11</c:v>
                </c:pt>
                <c:pt idx="5">
                  <c:v>10</c:v>
                </c:pt>
                <c:pt idx="6">
                  <c:v>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2F2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A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0"/>
        </c:scaling>
        <c:delete val="0"/>
        <c:axPos val="l"/>
        <c:majorGridlines>
          <c:spPr>
            <a:ln w="12700" cap="flat">
              <a:solidFill>
                <a:srgbClr val="3333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A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1D"/>
        </a:solidFill>
        <a:ln>
          <a:noFill/>
        </a:ln>
        <a:effectLst/>
      </c:spPr>
    </c:plotArea>
    <c:plotVisOnly val="1"/>
    <c:dispBlanksAs val="span"/>
  </c:chart>
  <c:spPr>
    <a:solidFill>
      <a:srgbClr val="16161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2013 NeurIPS Deep Learning Workshop version, not the 2015 Nature paper. The difference matters and I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as: everyone knew CNNs worked on ImageNet by 2013. The open question was whether you could bolt one onto Q-learning without it falling apart. The answer had been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Gamma is the discount factor, 0.99 here. The max over next actions is what makes this off-policy: you can learn about the greedy policy while behaving randomly.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hinge of my whole week. The 2013 paper fixes A and not B. That is not sloppiness, the target network simply had not been invented yet. My experiment is to run it both ways and see how much B actually costs on CarRacing.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loud: replay is only sound because Q-learning is off-policy. You are learning about the greedy policy while the stored data came from older, more random policies. An on-policy method like PPO cannot do this, which is why PPO throws its rollouts away after a few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step 4 happens every step, so the agent takes roughly as many gradient steps as it takes actions. That is why DQN is sample-efficient compared to policy gradient methods but wall-clock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clipping is the one thing I deliberately did not copy. On CarRacing it would flatten the difference between visiting a track tile and idling, which is the only signal that separates driving from parking.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scores from Table 1 of the paper. Breakout 168 against a human 31; Seaquest 1705 against a human 28010. The pattern is that DQN wins where reactivity is enough and loses where long-horizon planning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this: the prediction is that without a target network the mean predicted Q climbs away from anything the real returns justify, and the learning curve is jagged. The run with the target network should be steadier. Results in the write-up.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Playing Atari with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7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Deep Reinforcement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Mnih et al., 2013   ·   arXiv:1312.5602   ·   DeepMind Technologies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3063240"/>
            <a:ext cx="822960" cy="320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Will Bickford  ·  AIEA Auditor Internship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that made reinforcement learning work from raw pixels.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 in 2013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had solved vision. It had not solved control.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5727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labels, just a scalar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1847088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gets the right answer for every example. RL gets one number, often delayed thousands of frames from the action that earned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84048" cy="384048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39512" y="15727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correlated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39512" y="1847088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nets assume independent samples. Consecutive frames of a game are nearly identical, which breaks that assumption badly.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384048" cy="384048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30358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moves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3310128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policy changes, the states it visits change too. The network is chasing a dataset that rewrites itself.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384048" cy="384048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9512" y="30358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9512" y="3310128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RL systems relied on features engineered per game. Nothing learned to see the screen itself.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Q-learning in one slide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value of each action, then act greedily with respect to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2424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 a)  =  the best total future reward achievable after taking action a in state 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Q*(s, a)  =  E [ r  +  γ · max_a′ Q*(s′, a′) 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equation is a consistency condition, and it doubles as a training signal: if you have an estimate of Q, then r + γ · max_a′ Q(s′, a′) is a better estimate than Q(s, a) was. Regress one onto the other and iterate.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24242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9534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Q-learning stores one value per (state, action) in a table. An Atari screen has more states than there are atoms worth counting. You need a function approximator — and that is exactly where it had always broken.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neural nets break Q-learning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modes, one fix each.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2880360"/>
          </a:xfrm>
          <a:prstGeom prst="roundRect">
            <a:avLst>
              <a:gd name="adj" fmla="val 1905"/>
            </a:avLst>
          </a:prstGeom>
          <a:solidFill>
            <a:srgbClr val="2424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402336" cy="40233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online means every gradient step uses the frame that came right after the last one. The network sees a long run of near-identical states, overfits to whatever it is doing right now, and forgets the rest of the game.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experience replay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31920" cy="2880360"/>
          </a:xfrm>
          <a:prstGeom prst="roundRect">
            <a:avLst>
              <a:gd name="adj" fmla="val 1905"/>
            </a:avLst>
          </a:prstGeom>
          <a:solidFill>
            <a:srgbClr val="24242F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737360"/>
            <a:ext cx="402336" cy="40233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773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target r + γ · max_a′ Q(s′, a′) is computed by the same network being updated. Improve the weights and the target moves. Any overestimate feeds straight back into the next target and can compound.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7947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a target network — but not until 2015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Experience replay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central contribution, and it is a data-handling trick, not a learning rule.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2424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transition (s, a, r, s′) in a buffer of the last million frames. Train on random minibatches drawn from it, not on what just happened.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code. It is what makes the rest of the method viable.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84048" cy="384048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9900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correlation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3264408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minibatch spans thousands of frames and many episodes, so it looks far closer to i.i.d.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384048" cy="384048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22192" y="29900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3264408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can be sampled many times, so each frame of play contributes to many weight updates.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3017520"/>
            <a:ext cx="384048" cy="384048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1112" y="29900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the distribution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11112" y="3264408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over past behaviour stops the policy oscillating or diverging on its own recent history.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Algorithm 1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method. Five steps, repeated.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4242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00200"/>
            <a:ext cx="329184" cy="329184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63677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last 4 frames as the state 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4242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258568"/>
            <a:ext cx="329184" cy="329184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286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29514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probability ε act randomly, otherwise take argmaxa Q(s, a). ε anneals 1.0 → 0.1.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4242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916936"/>
            <a:ext cx="329184" cy="329184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944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29535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transition (s, a, r, s′) into the replay buffer 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5643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4242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3575304"/>
            <a:ext cx="329184" cy="329184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6027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3611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uniform random minibatch of 32 transitions from 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4242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4233672"/>
            <a:ext cx="329184" cy="329184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4261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0" y="427024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gradient step on (y − Q(s, a))², where y = r + γ · max_a′ Q(s′, a′), or just r if s′ is terminal.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network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gives Q for every action at once.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481328" cy="1463040"/>
          </a:xfrm>
          <a:prstGeom prst="roundRect">
            <a:avLst>
              <a:gd name="adj" fmla="val 3750"/>
            </a:avLst>
          </a:prstGeom>
          <a:solidFill>
            <a:srgbClr val="24242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1031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 × 84 × 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2432304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downsampled,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4 frames stacked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84248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40280" y="1691640"/>
            <a:ext cx="1481328" cy="1463040"/>
          </a:xfrm>
          <a:prstGeom prst="roundRect">
            <a:avLst>
              <a:gd name="adj" fmla="val 3750"/>
            </a:avLst>
          </a:prstGeom>
          <a:solidFill>
            <a:srgbClr val="24242F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13432" y="21031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@ 8×8, /4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13432" y="2432304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21608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77640" y="1691640"/>
            <a:ext cx="1481328" cy="1463040"/>
          </a:xfrm>
          <a:prstGeom prst="roundRect">
            <a:avLst>
              <a:gd name="adj" fmla="val 3750"/>
            </a:avLst>
          </a:prstGeom>
          <a:solidFill>
            <a:srgbClr val="24242F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0792" y="21031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@ 4×4, /2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50792" y="2432304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58968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15000" y="1691640"/>
            <a:ext cx="1481328" cy="1463040"/>
          </a:xfrm>
          <a:prstGeom prst="roundRect">
            <a:avLst>
              <a:gd name="adj" fmla="val 3750"/>
            </a:avLst>
          </a:prstGeom>
          <a:solidFill>
            <a:srgbClr val="24242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88152" y="21031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units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88152" y="2432304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96328" y="21488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52360" y="1691640"/>
            <a:ext cx="1481328" cy="1463040"/>
          </a:xfrm>
          <a:prstGeom prst="roundRect">
            <a:avLst>
              <a:gd name="adj" fmla="val 3750"/>
            </a:avLst>
          </a:prstGeom>
          <a:solidFill>
            <a:srgbClr val="3A2A2A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25512" y="21031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per 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25512" y="2432304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at most on Atari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401568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24242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output per action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(state, action) pairs in would need one forward pass per action. This way the max costs nothing.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01568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24242F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configuration, seven games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hyperparameters, same reward clipping to {−1, 0, +1} throughout. Nothing tuned per game.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Superhuman on three of seven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score: (DQN − random) / (human − random). 100% = human expert.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46304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24242F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human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5080" y="18470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Breakout, Pong and Enduro. Reactive games where the right move is visible in the last four frames.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31089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24242F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badly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34930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Q*bert and Seaquest need a plan that spans far more than four frames. DQN has no memory beyond its stack.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2013 left out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 paper has no target network. That is the experiment.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24242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Nature version added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target network, frozen and synced periodically, so the regression target holds still between syncs. Also a larger network and a longer schedule.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change that made DQN reliable.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24242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run this week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written from the 2013 paper, applied to CarRacing-v3 discretised to five actions. Run twice: as published, then with the 2015 target network, same seed and settings.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24242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01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environment had to change from last week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758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puts one output per action and takes a max over them, so the action space has to be finite. CarRacing's steering, gas and brake are continuous — which is exactly why last week's PPO used a Beta distribution. Five discrete actions: coast, hard left, hard right, accelerate, brake.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2026-07-31T01:17:29Z</dcterms:created>
  <dcterms:modified xsi:type="dcterms:W3CDTF">2026-07-31T01:17:29Z</dcterms:modified>
</cp:coreProperties>
</file>